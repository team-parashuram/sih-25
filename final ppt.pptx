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06292E-A439-472F-830A-AE0B668C8C01}" v="126" dt="2024-09-08T11:12:50.001"/>
    <p1510:client id="{44F419A8-C8EF-4693-B36C-D82A073DB77D}" v="34" dt="2024-09-08T12:25:37.209"/>
    <p1510:client id="{51591419-B2A8-4174-A7CD-469F1027FD21}" v="70" dt="2024-09-08T12:55:17.360"/>
    <p1510:client id="{73F01781-C9E3-4E10-8444-8957CA2DA55E}" v="276" dt="2024-09-08T13:00:59.227"/>
    <p1510:client id="{741FBD76-E9B4-4C75-BA71-556448E2528D}" v="3" dt="2024-09-08T10:55:35.966"/>
    <p1510:client id="{8798C5DA-99BB-4602-B21C-0BF1A93A324F}" v="935" dt="2024-09-08T11:25:12.620"/>
    <p1510:client id="{9061EACD-90AE-486C-8E0B-0A103C84F0D9}" v="315" dt="2024-09-08T11:33:34.904"/>
    <p1510:client id="{A3FB1AAA-CAA8-202D-05AB-EF66EB5EE10D}" v="303" dt="2024-09-08T11:05:12.162"/>
    <p1510:client id="{ABD0EB8F-B671-48C1-8F55-8B9B62746D72}" v="146" dt="2024-09-08T11:18:15.403"/>
    <p1510:client id="{C71D8F38-4F75-46D0-BA07-80466252E18E}" v="25" dt="2024-09-08T12:56:41.497"/>
    <p1510:client id="{F2972506-F870-44C0-B482-891D07AC4A4C}" v="118" dt="2024-09-08T11:12:56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ebrtc.org/getting-started/firebase-rtc-codelab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tawk.t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pmjs.com/package/react-native-pure-jwt" TargetMode="External"/><Relationship Id="rId5" Type="http://schemas.openxmlformats.org/officeDocument/2006/relationships/hyperlink" Target="https://docs.dropzone.dev/" TargetMode="External"/><Relationship Id="rId10" Type="http://schemas.openxmlformats.org/officeDocument/2006/relationships/hyperlink" Target="https://socket.io/docs/v4/" TargetMode="External"/><Relationship Id="rId4" Type="http://schemas.openxmlformats.org/officeDocument/2006/relationships/hyperlink" Target="https://resend.com/docs/introduction" TargetMode="External"/><Relationship Id="rId9" Type="http://schemas.openxmlformats.org/officeDocument/2006/relationships/hyperlink" Target="https://peerj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46640"/>
            <a:ext cx="5924550" cy="47153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>
              <a:latin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ＭＳ Ｐゴシック"/>
                <a:cs typeface="Arial"/>
              </a:rPr>
              <a:t>Problem Statement ID –1642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ＭＳ Ｐゴシック"/>
                <a:cs typeface="Arial"/>
              </a:rPr>
              <a:t>Problem Statement Title - </a:t>
            </a:r>
            <a:r>
              <a:rPr lang="en-US" b="1" dirty="0">
                <a:latin typeface="Arial"/>
                <a:ea typeface="Calibri"/>
                <a:cs typeface="Calibri"/>
              </a:rPr>
              <a:t>AYUSH Startup Registration Portal for Streamlined and Accessible Registration Process</a:t>
            </a:r>
            <a:endParaRPr lang="en-US" b="1">
              <a:latin typeface="Arial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ＭＳ Ｐゴシック"/>
                <a:cs typeface="Arial"/>
              </a:rPr>
              <a:t>Theme-</a:t>
            </a:r>
            <a:r>
              <a:rPr lang="en-US" b="1" dirty="0">
                <a:latin typeface="Arial"/>
                <a:ea typeface="Calibri"/>
                <a:cs typeface="Calibri"/>
              </a:rPr>
              <a:t>MedTech / </a:t>
            </a:r>
            <a:r>
              <a:rPr lang="en-US" b="1" err="1">
                <a:latin typeface="Arial"/>
                <a:ea typeface="Calibri"/>
                <a:cs typeface="Calibri"/>
              </a:rPr>
              <a:t>BioTech</a:t>
            </a:r>
            <a:r>
              <a:rPr lang="en-US" b="1" dirty="0">
                <a:latin typeface="Arial"/>
                <a:ea typeface="Calibri"/>
                <a:cs typeface="Calibri"/>
              </a:rPr>
              <a:t>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ＭＳ Ｐゴシック"/>
                <a:cs typeface="Arial"/>
              </a:rPr>
              <a:t>PS Category- Software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ＭＳ Ｐゴシック"/>
                <a:cs typeface="Arial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ＭＳ Ｐゴシック"/>
                <a:cs typeface="Arial"/>
              </a:rPr>
              <a:t>Team Name -</a:t>
            </a:r>
            <a:r>
              <a:rPr lang="en-US" b="1" dirty="0" err="1">
                <a:latin typeface="Arial"/>
                <a:ea typeface="ＭＳ Ｐゴシック"/>
                <a:cs typeface="Arial"/>
              </a:rPr>
              <a:t>Kodecrafts</a:t>
            </a:r>
            <a:endParaRPr lang="en-IN" b="1" dirty="0" err="1">
              <a:latin typeface="Arial"/>
              <a:ea typeface="ＭＳ Ｐゴシック"/>
              <a:cs typeface="Arial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1514" y="-320049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70702" y="1414263"/>
            <a:ext cx="6796727" cy="473975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latin typeface="Arial"/>
                <a:ea typeface="ＭＳ Ｐゴシック"/>
                <a:cs typeface="Arial"/>
              </a:rPr>
              <a:t>Idea/Solution</a:t>
            </a:r>
          </a:p>
          <a:p>
            <a:r>
              <a:rPr lang="en-GB">
                <a:latin typeface="Calibri"/>
                <a:ea typeface="ＭＳ Ｐゴシック"/>
                <a:cs typeface="Calibri"/>
              </a:rPr>
              <a:t>A secure, user-friendly portal designed to streamline the registration process for startups in the AYUSH sector.</a:t>
            </a:r>
          </a:p>
          <a:p>
            <a:r>
              <a:rPr lang="en-US">
                <a:latin typeface="Arial"/>
                <a:ea typeface="ＭＳ Ｐゴシック"/>
                <a:cs typeface="Arial"/>
              </a:rPr>
              <a:t>Portal includes the following features:-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>
                <a:latin typeface="Calibri"/>
                <a:ea typeface="ＭＳ Ｐゴシック"/>
                <a:cs typeface="Calibri"/>
              </a:rPr>
              <a:t>User Authentication:</a:t>
            </a:r>
            <a:r>
              <a:rPr lang="en-GB" sz="1600">
                <a:latin typeface="Calibri"/>
                <a:ea typeface="ＭＳ Ｐゴシック"/>
                <a:cs typeface="Calibri"/>
              </a:rPr>
              <a:t> Secure login with multi-factor authentication for Startups, Officials, Stakeholders.</a:t>
            </a:r>
            <a:endParaRPr lang="en-GB" sz="1600" b="1">
              <a:latin typeface="Calibri"/>
              <a:ea typeface="ＭＳ Ｐゴシック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>
                <a:latin typeface="Calibri"/>
                <a:ea typeface="ＭＳ Ｐゴシック"/>
                <a:cs typeface="Calibri"/>
              </a:rPr>
              <a:t>Application Status Tracking:</a:t>
            </a:r>
            <a:r>
              <a:rPr lang="en-GB" sz="1600">
                <a:latin typeface="Calibri"/>
                <a:ea typeface="ＭＳ Ｐゴシック"/>
                <a:cs typeface="Calibri"/>
              </a:rPr>
              <a:t> Transparent, real-time updates with automatic notifications.</a:t>
            </a:r>
            <a:r>
              <a:rPr lang="en-GB" sz="1600" b="1">
                <a:latin typeface="Calibri"/>
                <a:ea typeface="ＭＳ Ｐゴシック"/>
                <a:cs typeface="Calibri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+mn-lt"/>
                <a:ea typeface="ＭＳ Ｐゴシック"/>
              </a:rPr>
              <a:t>Personalized Dashboards: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+mn-lt"/>
                <a:ea typeface="ＭＳ Ｐゴシック"/>
              </a:rPr>
              <a:t> Provide startups, stakeholders, and government officials with tailored insights and progress tracking. Each user type gets customized views and data relevant to their roles and needs.</a:t>
            </a:r>
            <a:endParaRPr lang="en-GB" sz="1600" b="1">
              <a:latin typeface="+mn-lt"/>
              <a:ea typeface="ＭＳ Ｐゴシック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>
                <a:latin typeface="Calibri"/>
                <a:ea typeface="ＭＳ Ｐゴシック"/>
                <a:cs typeface="Calibri"/>
              </a:rPr>
              <a:t>Data Management:</a:t>
            </a:r>
            <a:r>
              <a:rPr lang="en-GB" sz="1600">
                <a:latin typeface="Calibri"/>
                <a:ea typeface="ＭＳ Ｐゴシック"/>
                <a:cs typeface="Calibri"/>
              </a:rPr>
              <a:t> Centralized, encrypted data handling with audit trails.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>
                <a:latin typeface="Calibri"/>
                <a:ea typeface="ＭＳ Ｐゴシック"/>
                <a:cs typeface="Calibri"/>
              </a:rPr>
              <a:t>Support &amp; Resources:</a:t>
            </a:r>
            <a:r>
              <a:rPr lang="en-GB" sz="1600">
                <a:latin typeface="Calibri"/>
                <a:ea typeface="ＭＳ Ｐゴシック"/>
                <a:cs typeface="Calibri"/>
              </a:rPr>
              <a:t> Centralized FAQs, resources, real-time support, and a chatbot for instant assistance.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>
                <a:latin typeface="Calibri"/>
                <a:ea typeface="ＭＳ Ｐゴシック"/>
                <a:cs typeface="Calibri"/>
              </a:rPr>
              <a:t>Stakeholder-Startup Chat:</a:t>
            </a:r>
            <a:r>
              <a:rPr lang="en-GB" sz="1600">
                <a:latin typeface="Calibri"/>
                <a:ea typeface="ＭＳ Ｐゴシック"/>
                <a:cs typeface="Calibri"/>
              </a:rPr>
              <a:t> Secure, real-time messaging with history, and direct video calls, facilitating seamless collaboration between founders and stakeholders.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>
                <a:latin typeface="Calibri"/>
                <a:ea typeface="ＭＳ Ｐゴシック"/>
                <a:cs typeface="Calibri"/>
              </a:rPr>
              <a:t>Use secure cloud storage with backup and replication to prevent data loss.</a:t>
            </a:r>
            <a:endParaRPr lang="en-US" sz="2400">
              <a:latin typeface="Calibri"/>
              <a:ea typeface="ＭＳ Ｐゴシック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-12839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F636AAA-5A38-B0B9-F568-C67E9596DCB1}"/>
              </a:ext>
            </a:extLst>
          </p:cNvPr>
          <p:cNvSpPr txBox="1"/>
          <p:nvPr/>
        </p:nvSpPr>
        <p:spPr>
          <a:xfrm>
            <a:off x="7386885" y="1415854"/>
            <a:ext cx="4389120" cy="23391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>
                <a:latin typeface="Calibri"/>
                <a:ea typeface="ＭＳ Ｐゴシック"/>
                <a:cs typeface="Calibri"/>
              </a:rPr>
              <a:t>How Our Portal Solves Existing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>
                <a:latin typeface="Calibri"/>
                <a:ea typeface="ＭＳ Ｐゴシック"/>
                <a:cs typeface="Calibri"/>
              </a:rPr>
              <a:t>Streamlined Registration:</a:t>
            </a:r>
            <a:r>
              <a:rPr lang="en-GB" sz="1600">
                <a:latin typeface="Calibri"/>
                <a:ea typeface="ＭＳ Ｐゴシック"/>
                <a:cs typeface="Calibri"/>
              </a:rPr>
              <a:t> Simplifies registration by centralizing processes, enhancing information access, and enabling real-time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>
                <a:latin typeface="Calibri"/>
                <a:ea typeface="ＭＳ Ｐゴシック"/>
                <a:cs typeface="Calibri"/>
              </a:rPr>
              <a:t>Enhanced Communication and Support:</a:t>
            </a:r>
            <a:r>
              <a:rPr lang="en-GB" sz="1600">
                <a:latin typeface="Calibri"/>
                <a:ea typeface="ＭＳ Ｐゴシック"/>
                <a:cs typeface="Calibri"/>
              </a:rPr>
              <a:t> Solves delays and inefficiencies with direct, secure messaging between stakeholders and founders, and ensuring better collaboration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A03EA9-6620-638F-A937-208774615851}"/>
              </a:ext>
            </a:extLst>
          </p:cNvPr>
          <p:cNvSpPr txBox="1"/>
          <p:nvPr/>
        </p:nvSpPr>
        <p:spPr>
          <a:xfrm>
            <a:off x="7386885" y="3945576"/>
            <a:ext cx="4389120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>
                <a:latin typeface="Calibri"/>
                <a:ea typeface="ＭＳ Ｐゴシック"/>
                <a:cs typeface="Calibri"/>
              </a:rPr>
              <a:t>Uniqueness</a:t>
            </a:r>
            <a:r>
              <a:rPr lang="en-IN" b="1">
                <a:latin typeface="Calibri"/>
                <a:ea typeface="ＭＳ Ｐゴシック"/>
                <a:cs typeface="Calibri"/>
              </a:rPr>
              <a:t> of the solution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sz="1600">
                <a:latin typeface="+mn-lt"/>
                <a:ea typeface="ＭＳ Ｐゴシック"/>
              </a:rPr>
              <a:t>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+mn-lt"/>
                <a:ea typeface="ＭＳ Ｐゴシック"/>
              </a:rPr>
              <a:t>Integrated Communication and Chat: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+mn-lt"/>
                <a:ea typeface="ＭＳ Ｐゴシック"/>
              </a:rPr>
              <a:t> Combines secure messaging and real-time chat for seamless interactions between stakeholders and founders.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+mn-lt"/>
              <a:ea typeface="ＭＳ Ｐゴシック"/>
              <a:cs typeface="Calibri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>
                <a:latin typeface="Arial"/>
                <a:ea typeface="ＭＳ Ｐゴシック"/>
                <a:cs typeface="Arial"/>
              </a:rPr>
              <a:t> </a:t>
            </a:r>
            <a:r>
              <a:rPr lang="en-GB" altLang="en-US" sz="1600">
                <a:latin typeface="Arial"/>
                <a:ea typeface="ＭＳ Ｐゴシック"/>
                <a:cs typeface="Arial"/>
              </a:rPr>
              <a:t>O</a:t>
            </a:r>
            <a:r>
              <a:rPr lang="en-GB" sz="1600">
                <a:latin typeface="Calibri"/>
                <a:ea typeface="ＭＳ Ｐゴシック"/>
                <a:cs typeface="Calibri"/>
              </a:rPr>
              <a:t>ffers personalized dashboards, ensuring efficient registration and tailored user experience.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/>
              <a:ea typeface="ＭＳ Ｐゴシック"/>
              <a:cs typeface="Calibri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054A7355-8059-84BA-1796-81B44933D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2078759-446B-90F4-1172-BD3AB2495E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4385" y="82099"/>
            <a:ext cx="2676465" cy="848176"/>
          </a:xfrm>
          <a:prstGeom prst="ellipse">
            <a:avLst/>
          </a:prstGeom>
          <a:ln>
            <a:solidFill>
              <a:schemeClr val="accent4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Cooper Black" panose="0208090404030B020404" pitchFamily="18" charset="0"/>
              </a:rPr>
              <a:t>KODECRAFTS</a:t>
            </a:r>
            <a:endParaRPr lang="en-IN">
              <a:latin typeface="Cooper Black" panose="0208090404030B0204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8C888C-ADFD-11C5-F14B-D89B0F935957}"/>
              </a:ext>
            </a:extLst>
          </p:cNvPr>
          <p:cNvSpPr txBox="1"/>
          <p:nvPr/>
        </p:nvSpPr>
        <p:spPr>
          <a:xfrm>
            <a:off x="95311" y="1138801"/>
            <a:ext cx="6151602" cy="58477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1600" b="1">
              <a:latin typeface="Calibri"/>
              <a:ea typeface="ＭＳ Ｐゴシック"/>
              <a:cs typeface="Calibri"/>
            </a:endParaRPr>
          </a:p>
          <a:p>
            <a:r>
              <a:rPr lang="en-IN" sz="1700" b="1">
                <a:latin typeface="Calibri"/>
                <a:ea typeface="ＭＳ Ｐゴシック"/>
                <a:cs typeface="Calibri"/>
              </a:rPr>
              <a:t>Frontend (User Interface and Experience):</a:t>
            </a:r>
            <a:endParaRPr lang="en-IN" sz="170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>
                <a:latin typeface="Calibri"/>
                <a:ea typeface="ＭＳ Ｐゴシック"/>
                <a:cs typeface="Calibri"/>
              </a:rPr>
              <a:t>React/Angular:</a:t>
            </a:r>
            <a:br>
              <a:rPr lang="en-IN" sz="1600"/>
            </a:br>
            <a:r>
              <a:rPr lang="en-IN" sz="1600">
                <a:latin typeface="Calibri"/>
                <a:ea typeface="ＭＳ Ｐゴシック"/>
                <a:cs typeface="Calibri"/>
              </a:rPr>
              <a:t>Used for creating dynamic, personalized dashboards and interfaces.</a:t>
            </a:r>
          </a:p>
          <a:p>
            <a:r>
              <a:rPr lang="en-IN" sz="1700" b="1">
                <a:latin typeface="Calibri"/>
                <a:ea typeface="ＭＳ Ｐゴシック"/>
                <a:cs typeface="Calibri"/>
              </a:rPr>
              <a:t>Backend (Server-Side Logic &amp; APIs):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>
                <a:latin typeface="Calibri"/>
                <a:ea typeface="ＭＳ Ｐゴシック"/>
                <a:cs typeface="Calibri"/>
              </a:rPr>
              <a:t>Node.js with Express: </a:t>
            </a:r>
            <a:r>
              <a:rPr lang="en-IN" sz="1600">
                <a:latin typeface="Calibri"/>
                <a:ea typeface="ＭＳ Ｐゴシック"/>
                <a:cs typeface="Calibri"/>
              </a:rPr>
              <a:t>Manages the backend, providing real-time           updates and secure server operations.</a:t>
            </a:r>
          </a:p>
          <a:p>
            <a:r>
              <a:rPr lang="en-IN" sz="1700" b="1">
                <a:latin typeface="Calibri"/>
                <a:ea typeface="ＭＳ Ｐゴシック"/>
                <a:cs typeface="Calibri"/>
              </a:rPr>
              <a:t>Database:</a:t>
            </a:r>
            <a:endParaRPr lang="en-IN" sz="1700">
              <a:latin typeface="Calibri"/>
              <a:ea typeface="ＭＳ Ｐゴシック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>
                <a:latin typeface="Calibri"/>
                <a:ea typeface="ＭＳ Ｐゴシック"/>
                <a:cs typeface="Calibri"/>
              </a:rPr>
              <a:t>MongoDB:  </a:t>
            </a:r>
            <a:r>
              <a:rPr lang="en-IN" sz="1600">
                <a:latin typeface="Calibri"/>
                <a:ea typeface="ＭＳ Ｐゴシック"/>
                <a:cs typeface="Calibri"/>
              </a:rPr>
              <a:t>Handles secure data storage with AES-256 encryption and            audit trails.</a:t>
            </a:r>
          </a:p>
          <a:p>
            <a:r>
              <a:rPr lang="en-IN" sz="1700" b="1">
                <a:latin typeface="Calibri"/>
                <a:ea typeface="ＭＳ Ｐゴシック"/>
                <a:cs typeface="Calibri"/>
              </a:rPr>
              <a:t>Real-Time Communication: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>
                <a:latin typeface="Calibri"/>
                <a:ea typeface="ＭＳ Ｐゴシック"/>
                <a:cs typeface="Calibri"/>
              </a:rPr>
              <a:t>WebSocket/SSE: </a:t>
            </a:r>
            <a:r>
              <a:rPr lang="en-IN" sz="1600">
                <a:latin typeface="Calibri"/>
                <a:ea typeface="ＭＳ Ｐゴシック"/>
                <a:cs typeface="Calibri"/>
              </a:rPr>
              <a:t>Enables real-time messaging using libraries like socket.io  and status tracking.</a:t>
            </a:r>
          </a:p>
          <a:p>
            <a:r>
              <a:rPr lang="en-IN" sz="1600" b="1">
                <a:latin typeface="Calibri"/>
                <a:ea typeface="ＭＳ Ｐゴシック"/>
                <a:cs typeface="Calibri"/>
              </a:rPr>
              <a:t> </a:t>
            </a:r>
            <a:r>
              <a:rPr lang="en-IN" sz="1700" b="1">
                <a:latin typeface="Calibri"/>
                <a:ea typeface="ＭＳ Ｐゴシック"/>
                <a:cs typeface="Calibri"/>
              </a:rPr>
              <a:t>Security: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>
                <a:latin typeface="Calibri"/>
                <a:ea typeface="ＭＳ Ｐゴシック"/>
                <a:cs typeface="Calibri"/>
              </a:rPr>
              <a:t>OAuth 2.0, JWT, MFA: </a:t>
            </a:r>
            <a:r>
              <a:rPr lang="en-IN" sz="1600">
                <a:latin typeface="Calibri"/>
                <a:ea typeface="ＭＳ Ｐゴシック"/>
                <a:cs typeface="Calibri"/>
              </a:rPr>
              <a:t>Ensures secure authentication and access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>
                <a:latin typeface="Calibri"/>
                <a:ea typeface="ＭＳ Ｐゴシック"/>
                <a:cs typeface="Calibri"/>
              </a:rPr>
              <a:t>.</a:t>
            </a:r>
            <a:r>
              <a:rPr lang="en-IN" sz="1600" b="1">
                <a:latin typeface="Calibri"/>
                <a:ea typeface="ＭＳ Ｐゴシック"/>
                <a:cs typeface="Calibri"/>
              </a:rPr>
              <a:t>TOTP</a:t>
            </a:r>
            <a:r>
              <a:rPr lang="en-IN" sz="1600">
                <a:latin typeface="Calibri"/>
                <a:ea typeface="ＭＳ Ｐゴシック"/>
                <a:cs typeface="Calibri"/>
              </a:rPr>
              <a:t>: for two factor authentication(2FA) that generates one time    password (OTP).</a:t>
            </a:r>
            <a:endParaRPr lang="en-IN" sz="1600">
              <a:solidFill>
                <a:srgbClr val="000000"/>
              </a:solidFill>
              <a:latin typeface="ＭＳ Ｐゴシック"/>
              <a:ea typeface="ＭＳ Ｐゴシック"/>
              <a:cs typeface="Calibri"/>
            </a:endParaRPr>
          </a:p>
          <a:p>
            <a:r>
              <a:rPr lang="en-IN" sz="1600" b="1">
                <a:latin typeface="Calibri"/>
                <a:ea typeface="ＭＳ Ｐゴシック"/>
                <a:cs typeface="Calibri"/>
              </a:rPr>
              <a:t> </a:t>
            </a:r>
            <a:r>
              <a:rPr lang="en-IN" sz="1700" b="1">
                <a:latin typeface="Calibri"/>
                <a:ea typeface="ＭＳ Ｐゴシック"/>
                <a:cs typeface="Calibri"/>
              </a:rPr>
              <a:t>Collaborations</a:t>
            </a:r>
            <a:r>
              <a:rPr lang="en-IN" sz="1700">
                <a:latin typeface="Calibri"/>
                <a:ea typeface="ＭＳ Ｐゴシック"/>
                <a:cs typeface="Calibri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>
                <a:latin typeface="Calibri"/>
                <a:ea typeface="ＭＳ Ｐゴシック"/>
                <a:cs typeface="Calibri"/>
              </a:rPr>
              <a:t>WebRTC</a:t>
            </a:r>
            <a:r>
              <a:rPr lang="en-IN" sz="1600">
                <a:latin typeface="Calibri"/>
                <a:ea typeface="ＭＳ Ｐゴシック"/>
                <a:cs typeface="Calibri"/>
              </a:rPr>
              <a:t>: Facilitates Collaboration via video call using libraries like </a:t>
            </a:r>
            <a:r>
              <a:rPr lang="en-IN" sz="1600" err="1">
                <a:latin typeface="Calibri"/>
                <a:ea typeface="Calibri"/>
                <a:cs typeface="Calibri"/>
              </a:rPr>
              <a:t>PeerJS</a:t>
            </a:r>
            <a:r>
              <a:rPr lang="en-IN" sz="1600">
                <a:latin typeface="Calibri"/>
                <a:ea typeface="ＭＳ Ｐゴシック"/>
                <a:cs typeface="Calibri"/>
              </a:rPr>
              <a:t>.</a:t>
            </a:r>
          </a:p>
          <a:p>
            <a:r>
              <a:rPr lang="en-IN" sz="1600" b="1">
                <a:latin typeface="Calibri"/>
                <a:ea typeface="ＭＳ Ｐゴシック"/>
                <a:cs typeface="Calibri"/>
              </a:rPr>
              <a:t> Support &amp; Resources: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err="1">
                <a:latin typeface="Calibri"/>
                <a:ea typeface="ＭＳ Ｐゴシック"/>
                <a:cs typeface="Calibri"/>
              </a:rPr>
              <a:t>Tawk</a:t>
            </a:r>
            <a:r>
              <a:rPr lang="en-IN" sz="1600" b="1">
                <a:latin typeface="Calibri"/>
                <a:ea typeface="ＭＳ Ｐゴシック"/>
                <a:cs typeface="Calibri"/>
              </a:rPr>
              <a:t> : </a:t>
            </a:r>
            <a:r>
              <a:rPr lang="en-IN" sz="1600">
                <a:latin typeface="Calibri"/>
                <a:ea typeface="ＭＳ Ｐゴシック"/>
                <a:cs typeface="Calibri"/>
              </a:rPr>
              <a:t>Facilitates real-time support via chats.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5C68043-CAAB-8C0F-0508-ECA8B482D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8F4AF-0DE0-38B7-05DA-7CB21FBFE07D}"/>
              </a:ext>
            </a:extLst>
          </p:cNvPr>
          <p:cNvSpPr txBox="1"/>
          <p:nvPr/>
        </p:nvSpPr>
        <p:spPr>
          <a:xfrm>
            <a:off x="8568048" y="1225311"/>
            <a:ext cx="19408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u="sng">
                <a:latin typeface="Calibri"/>
                <a:ea typeface="ＭＳ Ｐゴシック"/>
                <a:cs typeface="Calibri"/>
              </a:rPr>
              <a:t>Flowchart</a:t>
            </a:r>
            <a:endParaRPr lang="en-US" b="1" u="sng">
              <a:cs typeface="Calibri"/>
            </a:endParaRPr>
          </a:p>
        </p:txBody>
      </p:sp>
      <p:pic>
        <p:nvPicPr>
          <p:cNvPr id="9" name="Picture 8" descr="A diagram of a software application&#10;&#10;Description automatically generated">
            <a:extLst>
              <a:ext uri="{FF2B5EF4-FFF2-40B4-BE49-F238E27FC236}">
                <a16:creationId xmlns:a16="http://schemas.microsoft.com/office/drawing/2014/main" id="{6B35E2D8-7D61-97F4-7E49-552C4D189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063" y="1714593"/>
            <a:ext cx="5688477" cy="5139955"/>
          </a:xfrm>
          <a:prstGeom prst="rect">
            <a:avLst/>
          </a:prstGeom>
        </p:spPr>
      </p:pic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D139B550-9C55-56B8-A383-F8A37EF00A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4385" y="82099"/>
            <a:ext cx="2676465" cy="848176"/>
          </a:xfrm>
          <a:prstGeom prst="ellipse">
            <a:avLst/>
          </a:prstGeom>
          <a:ln>
            <a:solidFill>
              <a:schemeClr val="accent4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Cooper Black" panose="0208090404030B020404" pitchFamily="18" charset="0"/>
              </a:rPr>
              <a:t>KODECRAFTS</a:t>
            </a:r>
            <a:endParaRPr lang="en-IN">
              <a:latin typeface="Cooper Black" panose="0208090404030B0204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9268" y="1087147"/>
            <a:ext cx="7232416" cy="5524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err="1">
                <a:ln>
                  <a:noFill/>
                </a:ln>
                <a:effectLst/>
                <a:latin typeface="+mn-lt"/>
                <a:ea typeface="ＭＳ Ｐゴシック"/>
              </a:rPr>
              <a:t>Feasiblity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+mn-lt"/>
                <a:ea typeface="ＭＳ Ｐゴシック"/>
              </a:rPr>
              <a:t> of the idea: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Technical Feasibility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Cloud Integration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Secure, scalable cloud infrastructure supports high registration volumes.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Real-time Updates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WebSocket enables instant communication and status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Operational Feasibility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User-Centric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Personalized dashboards enhance user experience across stakeholders.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Centralized Resources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Efficient support through centralized FAQs and real-time chatbot.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Economic Feasibility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Cost-Efficient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Open-source tech reduces development costs;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Regulatory Feasibility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Compliance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Encryption and audit trails ensure data protection and regulatory adherence.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Transparency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Real-time tracking aligns with government transparency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Scalability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High Volume Handling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Scalable design accommodates sector growth and future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7353F7A9-57E8-1F78-0458-15EFB9FF0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2458EAF-6067-C4CA-BA0C-51CB86CAE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652959"/>
              </p:ext>
            </p:extLst>
          </p:nvPr>
        </p:nvGraphicFramePr>
        <p:xfrm>
          <a:off x="7719165" y="2075814"/>
          <a:ext cx="417836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718">
                  <a:extLst>
                    <a:ext uri="{9D8B030D-6E8A-4147-A177-3AD203B41FA5}">
                      <a16:colId xmlns:a16="http://schemas.microsoft.com/office/drawing/2014/main" val="619483382"/>
                    </a:ext>
                  </a:extLst>
                </a:gridCol>
                <a:gridCol w="2177650">
                  <a:extLst>
                    <a:ext uri="{9D8B030D-6E8A-4147-A177-3AD203B41FA5}">
                      <a16:colId xmlns:a16="http://schemas.microsoft.com/office/drawing/2014/main" val="3914684409"/>
                    </a:ext>
                  </a:extLst>
                </a:gridCol>
              </a:tblGrid>
              <a:tr h="355977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Challenges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Mitigation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81806"/>
                  </a:ext>
                </a:extLst>
              </a:tr>
              <a:tr h="169089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/>
                        <a:t>1.Managing and securing large volumes of startup data as the sector grows rapidly.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Use MongoDB's sharding for scalable data management with regular backups for security.</a:t>
                      </a:r>
                    </a:p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299473"/>
                  </a:ext>
                </a:extLst>
              </a:tr>
              <a:tr h="169089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2.Protecting sensitive data from potential  cyber threats and breaches</a:t>
                      </a:r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Employ multi-layered security protocols, regular audits, and real-time monitoring to detect and respond to threats. 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844674"/>
                  </a:ext>
                </a:extLst>
              </a:tr>
            </a:tbl>
          </a:graphicData>
        </a:graphic>
      </p:graphicFrame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EFDF63B-4D67-68CE-9294-822336E711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4385" y="82099"/>
            <a:ext cx="2676465" cy="848176"/>
          </a:xfrm>
          <a:prstGeom prst="ellipse">
            <a:avLst/>
          </a:prstGeom>
          <a:ln>
            <a:solidFill>
              <a:schemeClr val="accent4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Cooper Black" panose="0208090404030B020404" pitchFamily="18" charset="0"/>
              </a:rPr>
              <a:t>KODECRAFTS</a:t>
            </a:r>
            <a:endParaRPr lang="en-IN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6749" y="1332121"/>
            <a:ext cx="6019053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endParaRPr lang="en-US" sz="2400"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algn="just">
              <a:defRPr/>
            </a:pPr>
            <a:r>
              <a:rPr lang="en-US">
                <a:latin typeface="Calibri"/>
                <a:ea typeface="ＭＳ Ｐゴシック"/>
                <a:cs typeface="Calibri"/>
              </a:rPr>
              <a:t>1. </a:t>
            </a:r>
            <a:r>
              <a:rPr lang="en-US" b="1">
                <a:latin typeface="Calibri"/>
                <a:ea typeface="ＭＳ Ｐゴシック"/>
                <a:cs typeface="Calibri"/>
              </a:rPr>
              <a:t>Increased Entrepreneurship</a:t>
            </a:r>
            <a:endParaRPr lang="en-US">
              <a:latin typeface="Calibri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16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Streamlined Registration</a:t>
            </a: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: Lowers entry barriers, boosting entrepreneurship in AYUSH, leading to job creation, economic growth, and the promotion of traditional health practices.</a:t>
            </a:r>
            <a:endParaRPr lang="en-US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>
                <a:latin typeface="Calibri"/>
                <a:ea typeface="ＭＳ Ｐゴシック"/>
                <a:cs typeface="Calibri"/>
              </a:rPr>
              <a:t>2. </a:t>
            </a:r>
            <a:r>
              <a:rPr lang="en-US" b="1">
                <a:latin typeface="Calibri"/>
                <a:ea typeface="ＭＳ Ｐゴシック"/>
                <a:cs typeface="Calibri"/>
              </a:rPr>
              <a:t>Boost in Innovation and Growth</a:t>
            </a:r>
            <a:endParaRPr lang="en-US">
              <a:latin typeface="Calibri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16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Supportive Environment</a:t>
            </a: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: Provides real-time support and resources, accelerating innovation and growth, and enhancing public health through new  products and services.</a:t>
            </a:r>
            <a:endParaRPr lang="en-US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>
                <a:latin typeface="Calibri"/>
                <a:ea typeface="ＭＳ Ｐゴシック"/>
                <a:cs typeface="Calibri"/>
              </a:rPr>
              <a:t>3. </a:t>
            </a:r>
            <a:r>
              <a:rPr lang="en-US" b="1">
                <a:latin typeface="Calibri"/>
                <a:ea typeface="ＭＳ Ｐゴシック"/>
                <a:cs typeface="Calibri"/>
              </a:rPr>
              <a:t>Enhanced Compliance and Transparency</a:t>
            </a:r>
            <a:endParaRPr lang="en-US">
              <a:latin typeface="Calibri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16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Automated Processes</a:t>
            </a: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: By automating and making the registration process transparent, the portal ensures startups adhere to regulatory standards effortlessly. This promotes ethical business practices and trust within the industry, leading to a more regulated and transparent market that benefits both consumers and businesses.</a:t>
            </a:r>
            <a:endParaRPr lang="en-US" sz="1600">
              <a:solidFill>
                <a:prstClr val="black"/>
              </a:solidFill>
              <a:ea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6BAC44-2E22-5363-70B8-8C27DFA94704}"/>
              </a:ext>
            </a:extLst>
          </p:cNvPr>
          <p:cNvSpPr txBox="1"/>
          <p:nvPr/>
        </p:nvSpPr>
        <p:spPr>
          <a:xfrm>
            <a:off x="6508692" y="1445148"/>
            <a:ext cx="4701219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Calibri"/>
              <a:ea typeface="ＭＳ Ｐゴシック"/>
              <a:cs typeface="Calibri"/>
            </a:endParaRPr>
          </a:p>
          <a:p>
            <a:r>
              <a:rPr lang="en-US" sz="1600" b="1">
                <a:latin typeface="Calibri"/>
                <a:ea typeface="ＭＳ Ｐゴシック"/>
                <a:cs typeface="Calibri"/>
              </a:rPr>
              <a:t>1.Resource Optimization</a:t>
            </a:r>
            <a:endParaRPr lang="en-US" sz="160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Calibri"/>
                <a:ea typeface="Calibri"/>
                <a:cs typeface="Calibri"/>
              </a:rPr>
              <a:t>Efficient Operations</a:t>
            </a:r>
            <a:r>
              <a:rPr lang="en-US" sz="1600">
                <a:latin typeface="Calibri"/>
                <a:ea typeface="Calibri"/>
                <a:cs typeface="Calibri"/>
              </a:rPr>
              <a:t>: Provides tailored dashboards, real-time support, and resources, optimizing the startup process and reducing time and effort.</a:t>
            </a:r>
            <a:endParaRPr lang="en-US" sz="1600">
              <a:latin typeface="Calibri"/>
              <a:cs typeface="Calibri"/>
            </a:endParaRPr>
          </a:p>
          <a:p>
            <a:r>
              <a:rPr lang="en-US" sz="1600">
                <a:latin typeface="Calibri"/>
                <a:ea typeface="Calibri"/>
                <a:cs typeface="Calibri"/>
              </a:rPr>
              <a:t>2.</a:t>
            </a:r>
            <a:r>
              <a:rPr lang="en-US" sz="1600" b="1">
                <a:latin typeface="Calibri"/>
                <a:ea typeface="ＭＳ Ｐゴシック"/>
                <a:cs typeface="Calibri"/>
              </a:rPr>
              <a:t>Enhanced Collaboration</a:t>
            </a:r>
            <a:endParaRPr lang="en-US" sz="160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Calibri"/>
                <a:ea typeface="Calibri"/>
                <a:cs typeface="Calibri"/>
              </a:rPr>
              <a:t>Stakeholder Engagement</a:t>
            </a:r>
            <a:r>
              <a:rPr lang="en-US" sz="1600">
                <a:latin typeface="Calibri"/>
                <a:ea typeface="Calibri"/>
                <a:cs typeface="Calibri"/>
              </a:rPr>
              <a:t>: Facilitates secure communication between startups and stakeholders, leading to better decision-making and stronger partnerships.</a:t>
            </a:r>
            <a:endParaRPr lang="en-US" sz="1600">
              <a:cs typeface="Calibri"/>
            </a:endParaRPr>
          </a:p>
          <a:p>
            <a:r>
              <a:rPr lang="en-US" sz="1600">
                <a:latin typeface="Calibri"/>
                <a:ea typeface="Calibri"/>
                <a:cs typeface="Calibri"/>
              </a:rPr>
              <a:t>3.</a:t>
            </a:r>
            <a:r>
              <a:rPr lang="en-US" sz="1600" b="1">
                <a:latin typeface="Calibri"/>
                <a:ea typeface="ＭＳ Ｐゴシック"/>
                <a:cs typeface="Calibri"/>
              </a:rPr>
              <a:t>Increased Entrepreneurial Activity</a:t>
            </a:r>
            <a:endParaRPr lang="en-US" sz="160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Calibri"/>
                <a:ea typeface="Calibri"/>
                <a:cs typeface="Calibri"/>
              </a:rPr>
              <a:t>Growth and Innovation</a:t>
            </a:r>
            <a:r>
              <a:rPr lang="en-US" sz="1600">
                <a:latin typeface="Calibri"/>
                <a:ea typeface="Calibri"/>
                <a:cs typeface="Calibri"/>
              </a:rPr>
              <a:t>: Encourages more startups, driving innovation and contributing to economic development in the health and wellness industry.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036CB0-5479-AAEB-324F-DB4254F3DE21}"/>
              </a:ext>
            </a:extLst>
          </p:cNvPr>
          <p:cNvSpPr txBox="1"/>
          <p:nvPr/>
        </p:nvSpPr>
        <p:spPr>
          <a:xfrm>
            <a:off x="2440459" y="123567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8CFBEAC5-11E1-C63B-6B8F-9E201AACA1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4385" y="82099"/>
            <a:ext cx="2676465" cy="848176"/>
          </a:xfrm>
          <a:prstGeom prst="ellipse">
            <a:avLst/>
          </a:prstGeom>
          <a:ln>
            <a:solidFill>
              <a:schemeClr val="accent4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Cooper Black" panose="0208090404030B020404" pitchFamily="18" charset="0"/>
              </a:rPr>
              <a:t>KODECRAFTS</a:t>
            </a:r>
            <a:endParaRPr lang="en-IN"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BBE49-290A-F087-320D-BE6372B50414}"/>
              </a:ext>
            </a:extLst>
          </p:cNvPr>
          <p:cNvSpPr txBox="1"/>
          <p:nvPr/>
        </p:nvSpPr>
        <p:spPr>
          <a:xfrm>
            <a:off x="6508830" y="1247175"/>
            <a:ext cx="526551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ＭＳ Ｐゴシック"/>
                <a:cs typeface="Arial"/>
              </a:rPr>
              <a:t>Benefits of the startup registration portal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4AF07-52EA-7035-CE28-653058EB05FB}"/>
              </a:ext>
            </a:extLst>
          </p:cNvPr>
          <p:cNvSpPr txBox="1"/>
          <p:nvPr/>
        </p:nvSpPr>
        <p:spPr>
          <a:xfrm>
            <a:off x="330843" y="1247172"/>
            <a:ext cx="45855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</a:rPr>
              <a:t>Impact on target audience</a:t>
            </a:r>
            <a:r>
              <a:rPr lang="en-US" sz="2000">
                <a:latin typeface="Arial"/>
                <a:cs typeface="Arial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2000" y="-6667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4385" y="82099"/>
            <a:ext cx="2676465" cy="848176"/>
          </a:xfrm>
          <a:prstGeom prst="ellipse">
            <a:avLst/>
          </a:prstGeom>
          <a:ln>
            <a:solidFill>
              <a:schemeClr val="accent4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Cooper Black" panose="0208090404030B020404" pitchFamily="18" charset="0"/>
              </a:rPr>
              <a:t>KODECRAFTS</a:t>
            </a:r>
            <a:endParaRPr lang="en-IN">
              <a:latin typeface="Cooper Black" panose="0208090404030B0204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9D52C1-4D40-2B32-9D77-A9C4526E7CAC}"/>
              </a:ext>
            </a:extLst>
          </p:cNvPr>
          <p:cNvGrpSpPr/>
          <p:nvPr/>
        </p:nvGrpSpPr>
        <p:grpSpPr>
          <a:xfrm>
            <a:off x="1001557" y="1687441"/>
            <a:ext cx="6851042" cy="2977417"/>
            <a:chOff x="128373" y="1428835"/>
            <a:chExt cx="6851042" cy="2977417"/>
          </a:xfrm>
        </p:grpSpPr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BA55968F-A974-5E44-DD6D-EED8C3B30E33}"/>
                </a:ext>
              </a:extLst>
            </p:cNvPr>
            <p:cNvSpPr txBox="1"/>
            <p:nvPr/>
          </p:nvSpPr>
          <p:spPr>
            <a:xfrm>
              <a:off x="142911" y="1428835"/>
              <a:ext cx="6430296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sz="2000">
                  <a:latin typeface="Calibri"/>
                  <a:ea typeface="ＭＳ Ｐゴシック"/>
                  <a:cs typeface="Calibri"/>
                </a:rPr>
                <a:t>Email authentication support  </a:t>
              </a:r>
              <a:r>
                <a:rPr lang="en-US" sz="2000">
                  <a:latin typeface="Calibri"/>
                  <a:ea typeface="ＭＳ Ｐゴシック"/>
                  <a:cs typeface="Calibri"/>
                  <a:hlinkClick r:id="rId4"/>
                </a:rPr>
                <a:t>Docs</a:t>
              </a:r>
            </a:p>
          </p:txBody>
        </p:sp>
        <p:sp>
          <p:nvSpPr>
            <p:cNvPr id="11" name="TextBox 3">
              <a:extLst>
                <a:ext uri="{FF2B5EF4-FFF2-40B4-BE49-F238E27FC236}">
                  <a16:creationId xmlns:a16="http://schemas.microsoft.com/office/drawing/2014/main" id="{3A3FD6DF-C0ED-2F6E-9DAE-D4EDDE2CC1C1}"/>
                </a:ext>
              </a:extLst>
            </p:cNvPr>
            <p:cNvSpPr txBox="1"/>
            <p:nvPr/>
          </p:nvSpPr>
          <p:spPr>
            <a:xfrm>
              <a:off x="142897" y="1898726"/>
              <a:ext cx="5733747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sz="2000" err="1">
                  <a:latin typeface="Calibri"/>
                  <a:ea typeface="ＭＳ Ｐゴシック"/>
                  <a:cs typeface="Calibri"/>
                </a:rPr>
                <a:t>Dropzone</a:t>
              </a:r>
              <a:r>
                <a:rPr lang="en-US" sz="2000">
                  <a:latin typeface="Calibri"/>
                  <a:ea typeface="ＭＳ Ｐゴシック"/>
                  <a:cs typeface="Calibri"/>
                </a:rPr>
                <a:t> for File Drag and drop functionality </a:t>
              </a:r>
              <a:r>
                <a:rPr lang="en-US" sz="2000">
                  <a:latin typeface="Calibri"/>
                  <a:ea typeface="ＭＳ Ｐゴシック"/>
                  <a:cs typeface="Calibri"/>
                  <a:hlinkClick r:id="rId5"/>
                </a:rPr>
                <a:t>Docs</a:t>
              </a:r>
              <a:endParaRPr lang="en-US">
                <a:cs typeface="Calibri" pitchFamily="34" charset="0"/>
              </a:endParaRPr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AEE91C39-CF08-AB89-BD60-24FC0EDC40CF}"/>
                </a:ext>
              </a:extLst>
            </p:cNvPr>
            <p:cNvSpPr txBox="1"/>
            <p:nvPr/>
          </p:nvSpPr>
          <p:spPr>
            <a:xfrm>
              <a:off x="128892" y="2471792"/>
              <a:ext cx="5554760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sz="2000">
                  <a:latin typeface="Calibri"/>
                  <a:ea typeface="ＭＳ Ｐゴシック"/>
                  <a:cs typeface="Calibri"/>
                </a:rPr>
                <a:t>JWT for token based authentication </a:t>
              </a:r>
              <a:r>
                <a:rPr lang="en-US" sz="2000">
                  <a:latin typeface="Calibri"/>
                  <a:ea typeface="ＭＳ Ｐゴシック"/>
                  <a:cs typeface="Calibri"/>
                  <a:hlinkClick r:id="rId6"/>
                </a:rPr>
                <a:t>Docs</a:t>
              </a:r>
              <a:endParaRPr lang="en-US" sz="2000">
                <a:latin typeface="Calibri"/>
                <a:ea typeface="ＭＳ Ｐゴシック"/>
                <a:cs typeface="Calibri"/>
              </a:endParaRP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70F366EC-84DB-0DB1-F33D-E00A5F8F3A33}"/>
                </a:ext>
              </a:extLst>
            </p:cNvPr>
            <p:cNvSpPr txBox="1"/>
            <p:nvPr/>
          </p:nvSpPr>
          <p:spPr>
            <a:xfrm>
              <a:off x="130328" y="2971198"/>
              <a:ext cx="4686672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sz="2000">
                  <a:latin typeface="Calibri"/>
                  <a:ea typeface="ＭＳ Ｐゴシック"/>
                  <a:cs typeface="Calibri"/>
                </a:rPr>
                <a:t>TAWK for Real time chat support </a:t>
              </a:r>
              <a:r>
                <a:rPr lang="en-US" sz="2000">
                  <a:latin typeface="Calibri"/>
                  <a:ea typeface="ＭＳ Ｐゴシック"/>
                  <a:cs typeface="Calibri"/>
                  <a:hlinkClick r:id="rId7"/>
                </a:rPr>
                <a:t>Docs</a:t>
              </a:r>
            </a:p>
          </p:txBody>
        </p:sp>
        <p:sp>
          <p:nvSpPr>
            <p:cNvPr id="15" name="TextBox 8">
              <a:extLst>
                <a:ext uri="{FF2B5EF4-FFF2-40B4-BE49-F238E27FC236}">
                  <a16:creationId xmlns:a16="http://schemas.microsoft.com/office/drawing/2014/main" id="{8BA5B9B3-829F-0621-FF97-1C8D49D53076}"/>
                </a:ext>
              </a:extLst>
            </p:cNvPr>
            <p:cNvSpPr txBox="1"/>
            <p:nvPr/>
          </p:nvSpPr>
          <p:spPr>
            <a:xfrm>
              <a:off x="130568" y="3489164"/>
              <a:ext cx="6848847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sz="2000">
                  <a:latin typeface="Calibri"/>
                  <a:ea typeface="ＭＳ Ｐゴシック"/>
                  <a:cs typeface="Calibri"/>
                </a:rPr>
                <a:t>Video call collaboration using </a:t>
              </a:r>
              <a:r>
                <a:rPr lang="en-US" sz="2000" err="1">
                  <a:latin typeface="Calibri"/>
                  <a:ea typeface="ＭＳ Ｐゴシック"/>
                  <a:cs typeface="Calibri"/>
                </a:rPr>
                <a:t>webRTC</a:t>
              </a:r>
              <a:r>
                <a:rPr lang="en-US" sz="2000">
                  <a:latin typeface="Calibri"/>
                  <a:ea typeface="ＭＳ Ｐゴシック"/>
                  <a:cs typeface="Calibri"/>
                </a:rPr>
                <a:t>  </a:t>
              </a:r>
              <a:r>
                <a:rPr lang="en-US" sz="2000">
                  <a:latin typeface="Calibri"/>
                  <a:ea typeface="ＭＳ Ｐゴシック"/>
                  <a:cs typeface="Calibri"/>
                  <a:hlinkClick r:id="rId8"/>
                </a:rPr>
                <a:t>Docs</a:t>
              </a:r>
              <a:r>
                <a:rPr lang="en-US">
                  <a:latin typeface="Calibri"/>
                  <a:ea typeface="ＭＳ Ｐゴシック"/>
                  <a:cs typeface="Calibri"/>
                </a:rPr>
                <a:t>  with </a:t>
              </a:r>
              <a:r>
                <a:rPr lang="en-US" err="1">
                  <a:latin typeface="Calibri"/>
                  <a:ea typeface="ＭＳ Ｐゴシック"/>
                  <a:cs typeface="Calibri"/>
                </a:rPr>
                <a:t>PeerJS</a:t>
              </a:r>
              <a:r>
                <a:rPr lang="en-US">
                  <a:latin typeface="Calibri"/>
                  <a:ea typeface="ＭＳ Ｐゴシック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/>
                  <a:cs typeface="Calibri"/>
                  <a:hlinkClick r:id="rId9"/>
                </a:rPr>
                <a:t>Docs</a:t>
              </a:r>
            </a:p>
          </p:txBody>
        </p:sp>
        <p:sp>
          <p:nvSpPr>
            <p:cNvPr id="2" name="TextBox 8">
              <a:extLst>
                <a:ext uri="{FF2B5EF4-FFF2-40B4-BE49-F238E27FC236}">
                  <a16:creationId xmlns:a16="http://schemas.microsoft.com/office/drawing/2014/main" id="{5D8E6D6A-730E-085F-8331-6E09B70331FB}"/>
                </a:ext>
              </a:extLst>
            </p:cNvPr>
            <p:cNvSpPr txBox="1"/>
            <p:nvPr/>
          </p:nvSpPr>
          <p:spPr>
            <a:xfrm>
              <a:off x="128373" y="4006142"/>
              <a:ext cx="4686672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sz="2000" err="1">
                  <a:latin typeface="Calibri"/>
                  <a:ea typeface="ＭＳ Ｐゴシック"/>
                  <a:cs typeface="Calibri"/>
                </a:rPr>
                <a:t>Websockets</a:t>
              </a:r>
              <a:r>
                <a:rPr lang="en-US" sz="2000">
                  <a:latin typeface="Calibri"/>
                  <a:ea typeface="ＭＳ Ｐゴシック"/>
                  <a:cs typeface="Calibri"/>
                </a:rPr>
                <a:t> and Socket.io for chats </a:t>
              </a:r>
              <a:r>
                <a:rPr lang="en-US" sz="2000">
                  <a:latin typeface="Calibri"/>
                  <a:ea typeface="ＭＳ Ｐゴシック"/>
                  <a:cs typeface="Calibri"/>
                  <a:hlinkClick r:id="rId10"/>
                </a:rPr>
                <a:t>Docs</a:t>
              </a:r>
              <a:endParaRPr lang="en-US" sz="2000">
                <a:latin typeface="Calibri"/>
                <a:ea typeface="ＭＳ Ｐゴシック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132</cp:revision>
  <dcterms:created xsi:type="dcterms:W3CDTF">2013-12-12T18:46:50Z</dcterms:created>
  <dcterms:modified xsi:type="dcterms:W3CDTF">2024-09-08T13:01:13Z</dcterms:modified>
  <cp:category/>
</cp:coreProperties>
</file>